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5240000" cy="85725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经历按用户最新提供的简历文字整理，包括第一负责人朱怡筠、5人团队、京津冀调研、2023.06—2024.06、Python/Excel清洗与描述统计和交叉分析、机构对接及小程序试运行。问卷超过200份、约50条救助信息、省级二等奖按用户提供信息。未提供机构数量、实际答卷、分析输出与试运行日志，因此不补填具体合作家数或运营表现，也不将本次复算文件冒充当年分析记录。原结项报告日期2024年5月13日，项目结束时间按用户最新信息为2024年6月，阶段月份为归纳安排。公开研究：Gu et al. (2024), A Survey of Public Opinion on Community Cats’ General Health and Relationship Quality with Residents in Urban China, Animals 14(3), 525. DOI 10.3390/ani14030525. https://pmc.ncbi.nlm.nih.gov/articles/PMC10854670/ 。N=5382，约45%、38%、18%为外部研究取整比例，非本项目问卷结果，三项非互斥。信息核验和回访是据原项目报告提出的设计方向，不是该研究直接测得的功能支持率。图片为AI生成场景，界面为本次重建的本地HTML演示，不作为上线取证。奖状沿用用户修改版，仅为文件体积作JPEG编码压缩，未重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0" name="矩形 59"/>
          <p:cNvSpPr>
            <a:spLocks noGrp="1"/>
          </p:cNvSpPr>
          <p:nvPr/>
        </p:nvSpPr>
        <p:spPr>
          <a:xfrm>
            <a:off x="523875" y="323850"/>
            <a:ext cx="11430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36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36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36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36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36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36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36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36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36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36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6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云上萌宠星，云下爱宠行</a:t>
            </a:r>
            <a:endParaRPr sz="3600" b="1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1430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大学生创新创业大赛 · 宠物救助项目 · 2023.0</a:t>
            </a:r>
            <a:r>
              <a:rPr lang="en-US"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sz="16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—2024.06</a:t>
            </a:r>
            <a:endParaRPr sz="1650" b="0">
              <a:solidFill>
                <a:srgbClr val="7382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863330" y="514350"/>
            <a:ext cx="309054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项目成果：</a:t>
            </a:r>
            <a:r>
              <a:rPr sz="23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省级二等奖</a:t>
            </a:r>
            <a:endParaRPr sz="2325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直接连接符 4"/>
          <p:cNvSpPr>
            <a:spLocks noGrp="1"/>
          </p:cNvSpPr>
          <p:nvPr/>
        </p:nvSpPr>
        <p:spPr>
          <a:xfrm>
            <a:off x="523875" y="1657350"/>
            <a:ext cx="14192250" cy="9525"/>
          </a:xfrm>
          <a:prstGeom prst="line">
            <a:avLst/>
          </a:prstGeom>
          <a:noFill/>
          <a:ln w="9525">
            <a:solidFill>
              <a:srgbClr val="D4DED4"/>
            </a:solidFill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23875" y="1943100"/>
            <a:ext cx="4381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0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30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30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30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30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30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30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30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30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30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30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0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第一负责人</a:t>
            </a:r>
            <a:endParaRPr sz="3000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2600325"/>
            <a:ext cx="43815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朱怡筠  /  统筹5人团队</a:t>
            </a:r>
            <a:endParaRPr sz="1875" b="1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52450" y="30861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3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3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3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3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3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3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3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3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3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3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3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我的工作</a:t>
            </a:r>
            <a:endParaRPr sz="1350" b="0">
              <a:solidFill>
                <a:srgbClr val="7382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52450" y="3476625"/>
            <a:ext cx="44291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7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需求调研与痛点梳理</a:t>
            </a:r>
            <a:endParaRPr sz="1650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52450" y="3876675"/>
            <a:ext cx="4572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5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组织京津冀调研，回收问卷超过200份。</a:t>
            </a:r>
            <a:endParaRPr sz="1425" b="0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用Python / Excel清洗、描述统计与交叉</a:t>
            </a:r>
            <a:endParaRPr sz="1425" b="0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分析，梳理资源、核验与回访问题。</a:t>
            </a:r>
            <a:endParaRPr sz="1425" b="0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52450" y="4953000"/>
            <a:ext cx="44291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7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产品需求与成果整合</a:t>
            </a:r>
            <a:endParaRPr sz="1650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52450" y="5353050"/>
            <a:ext cx="457200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5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对接救助机构，梳理上报、领养与回访</a:t>
            </a:r>
            <a:endParaRPr sz="1425" b="0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功能，推动小程序上线试运行，整合</a:t>
            </a:r>
            <a:endParaRPr sz="1425" b="0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约50条救助信息及项目报告。</a:t>
            </a:r>
            <a:endParaRPr sz="1425" b="0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52450" y="6191250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6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650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52450" y="5086350"/>
            <a:ext cx="45243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42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425" b="0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63245" y="6486525"/>
            <a:ext cx="42862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72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推进过程（阶段归纳）</a:t>
            </a:r>
            <a:endParaRPr sz="1875" b="1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52450" y="6915150"/>
            <a:ext cx="13811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2023.09—10</a:t>
            </a:r>
            <a:endParaRPr sz="1275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2009775" y="6915150"/>
            <a:ext cx="17145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调研设计</a:t>
            </a:r>
            <a:endParaRPr sz="1275" b="1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733800" y="6915150"/>
            <a:ext cx="1409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明确调查问题</a:t>
            </a:r>
            <a:endParaRPr sz="1125" b="0">
              <a:solidFill>
                <a:srgbClr val="7382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直接连接符 19"/>
          <p:cNvSpPr>
            <a:spLocks noGrp="1"/>
          </p:cNvSpPr>
          <p:nvPr/>
        </p:nvSpPr>
        <p:spPr>
          <a:xfrm>
            <a:off x="552450" y="7210425"/>
            <a:ext cx="4457700" cy="9525"/>
          </a:xfrm>
          <a:prstGeom prst="line">
            <a:avLst/>
          </a:prstGeom>
          <a:noFill/>
          <a:ln w="9525">
            <a:solidFill>
              <a:srgbClr val="E3E9E1"/>
            </a:solidFill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52450" y="7239000"/>
            <a:ext cx="13811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2023.11—12</a:t>
            </a:r>
            <a:endParaRPr sz="1275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2009775" y="7239000"/>
            <a:ext cx="17145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问卷与访谈</a:t>
            </a:r>
            <a:endParaRPr sz="1275" b="1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3733800" y="7239000"/>
            <a:ext cx="1409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整理需求与线索</a:t>
            </a:r>
            <a:endParaRPr sz="1125" b="0">
              <a:solidFill>
                <a:srgbClr val="7382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直接连接符 23"/>
          <p:cNvSpPr>
            <a:spLocks noGrp="1"/>
          </p:cNvSpPr>
          <p:nvPr/>
        </p:nvSpPr>
        <p:spPr>
          <a:xfrm>
            <a:off x="552450" y="7534275"/>
            <a:ext cx="4457700" cy="9525"/>
          </a:xfrm>
          <a:prstGeom prst="line">
            <a:avLst/>
          </a:prstGeom>
          <a:noFill/>
          <a:ln w="9525">
            <a:solidFill>
              <a:srgbClr val="E3E9E1"/>
            </a:solidFill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552450" y="7562850"/>
            <a:ext cx="13811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2024.01—03</a:t>
            </a:r>
            <a:endParaRPr sz="1275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2009775" y="7562850"/>
            <a:ext cx="17145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需求与功能梳理</a:t>
            </a:r>
            <a:endParaRPr sz="1275" b="1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3733800" y="7562850"/>
            <a:ext cx="1409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形成平台展示</a:t>
            </a:r>
            <a:endParaRPr sz="1125" b="0">
              <a:solidFill>
                <a:srgbClr val="7382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直接连接符 27"/>
          <p:cNvSpPr>
            <a:spLocks noGrp="1"/>
          </p:cNvSpPr>
          <p:nvPr/>
        </p:nvSpPr>
        <p:spPr>
          <a:xfrm>
            <a:off x="552450" y="7858125"/>
            <a:ext cx="4457700" cy="9525"/>
          </a:xfrm>
          <a:prstGeom prst="line">
            <a:avLst/>
          </a:prstGeom>
          <a:noFill/>
          <a:ln w="9525">
            <a:solidFill>
              <a:srgbClr val="E3E9E1"/>
            </a:solidFill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552450" y="7886700"/>
            <a:ext cx="13811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2024.04—06</a:t>
            </a:r>
            <a:endParaRPr sz="1275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2009775" y="7886700"/>
            <a:ext cx="17145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报告与成果整合</a:t>
            </a:r>
            <a:endParaRPr sz="1275" b="1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3733800" y="7886700"/>
            <a:ext cx="1409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完成项目材料</a:t>
            </a:r>
            <a:endParaRPr sz="1125" b="0">
              <a:solidFill>
                <a:srgbClr val="7382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5476875" y="2028825"/>
            <a:ext cx="39052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问卷调研</a:t>
            </a:r>
            <a:endParaRPr sz="1875" b="1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476875" y="2447925"/>
            <a:ext cx="39052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1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31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31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31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31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31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31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31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31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31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31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超过200份</a:t>
            </a:r>
            <a:endParaRPr sz="3150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495925" y="3067050"/>
            <a:ext cx="3905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0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0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0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0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0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0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0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0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0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0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0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项目问卷回收量</a:t>
            </a:r>
            <a:endParaRPr sz="1200" b="0">
              <a:solidFill>
                <a:srgbClr val="7382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5495925" y="3476625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5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4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4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4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4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4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4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4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4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4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42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关键图表：公开研究参考</a:t>
            </a:r>
            <a:endParaRPr sz="1425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5495925" y="3905250"/>
            <a:ext cx="16668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曾救助或帮助社区猫</a:t>
            </a:r>
            <a:endParaRPr sz="1275" b="0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7191375" y="3971925"/>
            <a:ext cx="1714500" cy="123825"/>
          </a:xfrm>
          <a:prstGeom prst="rect">
            <a:avLst/>
          </a:prstGeom>
          <a:solidFill>
            <a:srgbClr val="E6EDE5"/>
          </a:solidFill>
          <a:ln w="0">
            <a:noFill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7191375" y="3971925"/>
            <a:ext cx="771525" cy="123825"/>
          </a:xfrm>
          <a:prstGeom prst="rect">
            <a:avLst/>
          </a:prstGeom>
          <a:solidFill>
            <a:srgbClr val="709E80"/>
          </a:solidFill>
          <a:ln w="0">
            <a:noFill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8982075" y="3905250"/>
            <a:ext cx="5524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约45%</a:t>
            </a:r>
            <a:endParaRPr sz="1275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5495925" y="4286250"/>
            <a:ext cx="16668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有条件时愿意领养</a:t>
            </a:r>
            <a:endParaRPr sz="1275" b="0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7191375" y="4352925"/>
            <a:ext cx="1714500" cy="123825"/>
          </a:xfrm>
          <a:prstGeom prst="rect">
            <a:avLst/>
          </a:prstGeom>
          <a:solidFill>
            <a:srgbClr val="E6EDE5"/>
          </a:solidFill>
          <a:ln w="0">
            <a:noFill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7191375" y="4352925"/>
            <a:ext cx="651510" cy="123825"/>
          </a:xfrm>
          <a:prstGeom prst="rect">
            <a:avLst/>
          </a:prstGeom>
          <a:solidFill>
            <a:srgbClr val="709E80"/>
          </a:solidFill>
          <a:ln w="0">
            <a:noFill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8982075" y="4286250"/>
            <a:ext cx="5524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约38%</a:t>
            </a:r>
            <a:endParaRPr sz="1275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5495925" y="4667250"/>
            <a:ext cx="16668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曾向管理方投诉</a:t>
            </a:r>
            <a:endParaRPr sz="1275" b="0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7191375" y="4733925"/>
            <a:ext cx="1714500" cy="123825"/>
          </a:xfrm>
          <a:prstGeom prst="rect">
            <a:avLst/>
          </a:prstGeom>
          <a:solidFill>
            <a:srgbClr val="E6EDE5"/>
          </a:solidFill>
          <a:ln w="0">
            <a:noFill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7191375" y="4733925"/>
            <a:ext cx="308610" cy="123825"/>
          </a:xfrm>
          <a:prstGeom prst="rect">
            <a:avLst/>
          </a:prstGeom>
          <a:solidFill>
            <a:srgbClr val="709E80"/>
          </a:solidFill>
          <a:ln w="0">
            <a:noFill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8982075" y="4667250"/>
            <a:ext cx="5524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约18%</a:t>
            </a:r>
            <a:endParaRPr sz="1275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5476875" y="5572125"/>
            <a:ext cx="4000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线下社区探访</a:t>
            </a:r>
            <a:endParaRPr sz="1875" b="1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0" name="图片 49"/>
          <p:cNvPicPr>
            <a:picLocks noChangeAspect="1"/>
          </p:cNvPicPr>
          <p:nvPr/>
        </p:nvPicPr>
        <p:blipFill>
          <a:blip r:embed="rId1"/>
          <a:srcRect t="15536" b="15536"/>
          <a:stretch>
            <a:fillRect/>
          </a:stretch>
        </p:blipFill>
        <p:spPr>
          <a:xfrm>
            <a:off x="5476875" y="6067425"/>
            <a:ext cx="4000500" cy="1838325"/>
          </a:xfrm>
          <a:prstGeom prst="rect">
            <a:avLst/>
          </a:prstGeom>
        </p:spPr>
      </p:pic>
      <p:sp>
        <p:nvSpPr>
          <p:cNvPr id="51" name="矩形 50"/>
          <p:cNvSpPr>
            <a:spLocks noGrp="1"/>
          </p:cNvSpPr>
          <p:nvPr/>
        </p:nvSpPr>
        <p:spPr>
          <a:xfrm>
            <a:off x="5495925" y="7972425"/>
            <a:ext cx="400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0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125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社区探访场景配图（AI生成）</a:t>
            </a:r>
            <a:endParaRPr sz="1125" b="0">
              <a:solidFill>
                <a:srgbClr val="7382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9829800" y="202882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救助线索上报与跟进</a:t>
            </a:r>
            <a:endParaRPr sz="1875" b="1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3" name="图片 52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9829800" y="2533650"/>
            <a:ext cx="4886325" cy="3376041"/>
          </a:xfrm>
          <a:prstGeom prst="rect">
            <a:avLst/>
          </a:prstGeom>
        </p:spPr>
      </p:pic>
      <p:sp>
        <p:nvSpPr>
          <p:cNvPr id="55" name="矩形 54"/>
          <p:cNvSpPr>
            <a:spLocks noGrp="1"/>
          </p:cNvSpPr>
          <p:nvPr/>
        </p:nvSpPr>
        <p:spPr>
          <a:xfrm>
            <a:off x="9829800" y="6648450"/>
            <a:ext cx="48577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24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24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24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24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24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24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24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24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24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24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24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约50条救助线索</a:t>
            </a:r>
            <a:endParaRPr sz="2400" b="1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9848850" y="7153275"/>
            <a:ext cx="4857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5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buNone/>
              <a:defRPr sz="15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buNone/>
              <a:defRPr sz="15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buNone/>
              <a:defRPr sz="15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buNone/>
              <a:defRPr sz="15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buNone/>
              <a:defRPr sz="15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buNone/>
              <a:defRPr sz="15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buNone/>
              <a:defRPr sz="15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buNone/>
              <a:defRPr sz="15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buNone/>
              <a:defRPr sz="15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buNone/>
              <a:defRPr sz="1575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243F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功能：线索上报、状态跟进、领养与回访</a:t>
            </a:r>
            <a:endParaRPr sz="1575" b="0">
              <a:solidFill>
                <a:srgbClr val="243F3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直接连接符 57"/>
          <p:cNvSpPr>
            <a:spLocks noGrp="1"/>
          </p:cNvSpPr>
          <p:nvPr/>
        </p:nvSpPr>
        <p:spPr>
          <a:xfrm>
            <a:off x="523875" y="8277225"/>
            <a:ext cx="14192250" cy="9525"/>
          </a:xfrm>
          <a:prstGeom prst="line">
            <a:avLst/>
          </a:prstGeom>
          <a:noFill/>
          <a:ln w="9525">
            <a:solidFill>
              <a:srgbClr val="D4DED4"/>
            </a:solidFill>
          </a:ln>
        </p:spPr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3"/>
          <a:srcRect l="12" r="12"/>
          <a:stretch>
            <a:fillRect/>
          </a:stretch>
        </p:blipFill>
        <p:spPr>
          <a:xfrm>
            <a:off x="12228195" y="24765"/>
            <a:ext cx="2459355" cy="1724025"/>
          </a:xfrm>
          <a:prstGeom prst="rect">
            <a:avLst/>
          </a:prstGeom>
        </p:spPr>
      </p:pic>
      <p:sp>
        <p:nvSpPr>
          <p:cNvPr id="62" name="矩形 61"/>
          <p:cNvSpPr>
            <a:spLocks noGrp="1"/>
          </p:cNvSpPr>
          <p:nvPr/>
        </p:nvSpPr>
        <p:spPr>
          <a:xfrm>
            <a:off x="5495925" y="5086350"/>
            <a:ext cx="4048125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05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05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05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05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05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05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05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05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05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05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05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>
                <a:solidFill>
                  <a:srgbClr val="7382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Gu等，Animals 2024，N=5,382</a:t>
            </a:r>
            <a:endParaRPr sz="1050">
              <a:solidFill>
                <a:srgbClr val="7382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9848850" y="7724775"/>
            <a:ext cx="48577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350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350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350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350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350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350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350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350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350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350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350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216A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建议：加强信息核验，建立回访与反馈闭环</a:t>
            </a:r>
            <a:endParaRPr sz="1350">
              <a:solidFill>
                <a:srgbClr val="216A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471</Words>
  <Application>WPS 演示</Application>
  <PresentationFormat>Converted Presentation</PresentationFormat>
  <Paragraphs>84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微软雅黑</vt:lpstr>
      <vt:lpstr>Arial Unicode MS</vt:lpstr>
      <vt:lpstr>Segoe UI</vt:lpstr>
      <vt:lpstr>Calibri</vt:lpstr>
      <vt:lpstr>ChatGPT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YiYun</cp:lastModifiedBy>
  <cp:revision>1</cp:revision>
  <dcterms:created xsi:type="dcterms:W3CDTF">2026-10-20T13:29:10Z</dcterms:created>
  <dcterms:modified xsi:type="dcterms:W3CDTF">2026-10-20T13:29:10Z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C115DAD3E8B946EA91472E3C2B294AD9_13</vt:lpwstr>
  </property>
  <property fmtid="{D5CDD505-2E9C-101B-9397-08002B2CF9AE}" pid="3" name="KSOProductBuildVer">
    <vt:lpwstr>2052-12.1.0.29161</vt:lpwstr>
  </property>
</Properties>
</file>